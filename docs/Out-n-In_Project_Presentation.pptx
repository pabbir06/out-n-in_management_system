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695" cy="6858000"/>
  <p:notesSz cx="6858000" cy="9144000"/>
  <p:defaultTextStyle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heme" Target="theme/theme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Test des commentaires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We put ourselves in the shoes of a restaurant manager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And exception control (we forgot)</a:t>
            </a:r>
          </a:p>
          <a:p>
            <a:r>
              <a:rPr/>
              <a:t>To handle wrong/incorrect inputs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If people want to run it at home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/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en-US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en-US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6324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C00000"/>
                </a:solidFill>
              </a:rPr>
              <a:t>Project demonstration / v1.0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6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1" name="Group 7"/>
          <p:cNvGrpSpPr/>
          <p:nvPr/>
        </p:nvGrpSpPr>
        <p:grpSpPr>
          <a:xfrm>
            <a:off x="1020927" y="4724400"/>
            <a:ext cx="10149840" cy="1036320"/>
            <a:chOff x="1020927" y="4965013"/>
            <a:chExt cx="10149840" cy="1036320"/>
          </a:xfrm>
        </p:grpSpPr>
        <p:sp>
          <p:nvSpPr>
            <p:cNvPr id="6" name="TextBox 5"/>
            <p:cNvSpPr txBox="1"/>
            <p:nvPr/>
          </p:nvSpPr>
          <p:spPr>
            <a:xfrm>
              <a:off x="1158087" y="4965013"/>
              <a:ext cx="9875520" cy="7315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900"/>
                </a:spcAft>
                <a:defRPr sz="2900" b="1">
                  <a:solidFill>
                    <a:srgbClr val="FFFFFF"/>
                  </a:solidFill>
                  <a:latin typeface="Aptos"/>
                </a:defRPr>
              </a:pPr>
              <a:r>
                <a:rPr sz="4400">
                  <a:solidFill>
                    <a:srgbClr val="E02A27"/>
                  </a:solidFill>
                </a:rPr>
                <a:t>Restaurant </a:t>
              </a:r>
              <a:r>
                <a:rPr sz="4800">
                  <a:solidFill>
                    <a:srgbClr val="E02A27"/>
                  </a:solidFill>
                </a:rPr>
                <a:t>Management</a:t>
              </a:r>
              <a:r>
                <a:rPr sz="4400">
                  <a:solidFill>
                    <a:srgbClr val="E02A27"/>
                  </a:solidFill>
                </a:rPr>
                <a:t> System</a:t>
              </a:r>
              <a:endParaRPr sz="4400">
                <a:solidFill>
                  <a:srgbClr val="E02A27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5696533"/>
              <a:ext cx="10149840" cy="3048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900"/>
                </a:spcAft>
                <a:defRPr sz="2000" b="0">
                  <a:solidFill>
                    <a:srgbClr val="FFFFFF"/>
                  </a:solidFill>
                  <a:latin typeface="Aptos"/>
                </a:defRPr>
              </a:pPr>
              <a:r>
                <a:rPr>
                  <a:solidFill>
                    <a:srgbClr val="C00000"/>
                  </a:solidFill>
                </a:rPr>
                <a:t>Java  •  Swing  •  MySQL  •  Object-oriented programming</a:t>
              </a:r>
              <a:endParaRPr>
                <a:solidFill>
                  <a:srgbClr val="C00000"/>
                </a:solidFill>
              </a:endParaRPr>
            </a:p>
          </p:txBody>
        </p:sp>
      </p:grpSp>
      <p:pic>
        <p:nvPicPr>
          <p:cNvPr id="48" name="Picture 7" descr="Pasted 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58456" y="762000"/>
            <a:ext cx="6474782" cy="36598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9728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D2A40"/>
                </a:solidFill>
                <a:latin typeface="Aptos"/>
              </a:defRPr>
            </a:pPr>
            <a:r>
              <a:rPr/>
              <a:t>One place to manage daily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10698480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A four-tab interface backed by business rules and a SQL or demo data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510528"/>
            <a:ext cx="10698480" cy="10972"/>
          </a:xfrm>
          <a:prstGeom prst="rect">
            <a:avLst/>
          </a:prstGeom>
          <a:solidFill>
            <a:srgbClr val="D3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6565392"/>
            <a:ext cx="26379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OUT-N-IN  •  JAVA RESTAURANT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5624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26E"/>
                </a:solidFill>
                <a:latin typeface="Aptos"/>
              </a:defRPr>
            </a:pPr>
            <a:r>
              <a:rPr/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1874519"/>
            <a:ext cx="5184648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74519"/>
            <a:ext cx="73152" cy="164592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75688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587752"/>
            <a:ext cx="4654296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Manage ingredient levels, prices, low-stock alerts and bulk deletes.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874519"/>
            <a:ext cx="5184648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9904" y="1874519"/>
            <a:ext cx="73152" cy="164592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075688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Dishes &amp; menus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87752"/>
            <a:ext cx="4654296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Edit recipes, check availability, prepare dishes and sum prices.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" y="3749039"/>
            <a:ext cx="5184648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3749039"/>
            <a:ext cx="73152" cy="164592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950207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Employees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462272"/>
            <a:ext cx="4654296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Create, edit and remove staff records with validation.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9904" y="3749039"/>
            <a:ext cx="5184648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9904" y="3749039"/>
            <a:ext cx="73152" cy="164592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3950207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462272"/>
            <a:ext cx="4654296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Track subscriptions, renew them and apply a member discount.</a:t>
            </a:r>
          </a:p>
        </p:txBody>
      </p:sp>
      <p:sp>
        <p:nvSpPr>
          <p:cNvPr id="74" name="TextBox 6"/>
          <p:cNvSpPr txBox="1"/>
          <p:nvPr/>
        </p:nvSpPr>
        <p:spPr>
          <a:xfrm>
            <a:off x="4716065" y="6565392"/>
            <a:ext cx="26379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October 19th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9728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D2A40"/>
                </a:solidFill>
                <a:latin typeface="Aptos"/>
              </a:defRPr>
            </a:pPr>
            <a:r>
              <a:rPr/>
              <a:t>Architecture: responsibilities stay separate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10528"/>
            <a:ext cx="10698480" cy="10972"/>
          </a:xfrm>
          <a:prstGeom prst="rect">
            <a:avLst/>
          </a:prstGeom>
          <a:solidFill>
            <a:srgbClr val="D3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56539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OUT-N-IN  •  JAVA RESTAURANT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26E"/>
                </a:solidFill>
                <a:latin typeface="Aptos"/>
              </a:defRPr>
            </a:pPr>
            <a:r>
              <a:rPr/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18488"/>
            <a:ext cx="3364992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18488"/>
            <a:ext cx="73152" cy="320040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9656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Swing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2834640" cy="2404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Four reusable, searchable tables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Forms and confirmation prompts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No direct SQL in the screens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618488"/>
            <a:ext cx="3364992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618488"/>
            <a:ext cx="73152" cy="320040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819656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Domain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331720"/>
            <a:ext cx="2834640" cy="2404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Person / Employee / Customer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Ingredient / Dish / Menu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Subscriptions, availability &amp; pricing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618488"/>
            <a:ext cx="3364992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9016" y="1618488"/>
            <a:ext cx="73152" cy="320040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9656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Data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331720"/>
            <a:ext cx="2834640" cy="2404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RestaurantStore interface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MySQL DAO implementation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Standalone in-memory demo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223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900"/>
              </a:spcAft>
              <a:defRPr sz="1900" b="1">
                <a:solidFill>
                  <a:srgbClr val="D1232A"/>
                </a:solidFill>
                <a:latin typeface="Aptos"/>
              </a:defRPr>
            </a:pPr>
            <a:r>
              <a:rPr/>
              <a:t>The same business actions work with the persistent SQL database or offline demo data.</a:t>
            </a:r>
          </a:p>
        </p:txBody>
      </p:sp>
      <p:sp>
        <p:nvSpPr>
          <p:cNvPr id="75" name="TextBox 20"/>
          <p:cNvSpPr txBox="1"/>
          <p:nvPr/>
        </p:nvSpPr>
        <p:spPr>
          <a:xfrm>
            <a:off x="3047924" y="2743200"/>
            <a:ext cx="6095848" cy="365760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sp>
        <p:nvSpPr>
          <p:cNvPr id="76" name="TextBox 6"/>
          <p:cNvSpPr txBox="1"/>
          <p:nvPr/>
        </p:nvSpPr>
        <p:spPr>
          <a:xfrm>
            <a:off x="4716065" y="6565392"/>
            <a:ext cx="26379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October 19th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9728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D2A40"/>
                </a:solidFill>
                <a:latin typeface="Aptos"/>
              </a:defRPr>
            </a:pPr>
            <a:r>
              <a:rPr/>
              <a:t>Business logic that prevents invalid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10528"/>
            <a:ext cx="10698480" cy="10972"/>
          </a:xfrm>
          <a:prstGeom prst="rect">
            <a:avLst/>
          </a:prstGeom>
          <a:solidFill>
            <a:srgbClr val="D3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56539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OUT-N-IN  •  JAVA RESTAURANT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26E"/>
                </a:solidFill>
                <a:latin typeface="Aptos"/>
              </a:defRPr>
            </a:pPr>
            <a:r>
              <a:rPr/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36776"/>
            <a:ext cx="5184648" cy="3474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36776"/>
            <a:ext cx="73152" cy="347472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37944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Inventory &amp; recipes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50008"/>
            <a:ext cx="4654296" cy="26791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Check every ingredient before preparing a dish.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Deduct exact fractional quantities.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Block shortages; no partial stock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36776"/>
            <a:ext cx="5184648" cy="3474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636776"/>
            <a:ext cx="73152" cy="347472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837944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Menus &amp; subscribers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50008"/>
            <a:ext cx="4654296" cy="26791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A menu must contain available dishes.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Base price = sum of dish prices.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Renew subscriptions without overlap.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10% demo discount for active members.</a:t>
            </a:r>
          </a:p>
        </p:txBody>
      </p:sp>
      <p:sp>
        <p:nvSpPr>
          <p:cNvPr id="78" name="TextBox 6"/>
          <p:cNvSpPr txBox="1"/>
          <p:nvPr/>
        </p:nvSpPr>
        <p:spPr>
          <a:xfrm>
            <a:off x="4716065" y="6565392"/>
            <a:ext cx="26379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October 19th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9728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D2A40"/>
                </a:solidFill>
                <a:latin typeface="Aptos"/>
              </a:defRPr>
            </a:pPr>
            <a:r>
              <a:rPr/>
              <a:t>Database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10698480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MySQL foreign keys keep related data consistent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510528"/>
            <a:ext cx="10698480" cy="10972"/>
          </a:xfrm>
          <a:prstGeom prst="rect">
            <a:avLst/>
          </a:prstGeom>
          <a:solidFill>
            <a:srgbClr val="D3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656539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OUT-N-IN  •  JAVA RESTAURANT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5624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26E"/>
                </a:solidFill>
                <a:latin typeface="Aptos"/>
              </a:defRPr>
            </a:pPr>
            <a:r>
              <a:rPr/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73352"/>
            <a:ext cx="5212080" cy="3291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73352"/>
            <a:ext cx="73152" cy="329184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Core business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86584"/>
            <a:ext cx="4681728" cy="2496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Ingredient ↔ Dish recipe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Dish ↔ Menu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Customer → Subscription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Employee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73352"/>
            <a:ext cx="5212080" cy="3291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673352"/>
            <a:ext cx="73152" cy="3291840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3" y="18745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Relational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3" y="2386584"/>
            <a:ext cx="4681728" cy="2496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dish_ingredient stores required quantity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menu_dish links each menu to dishes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UNIQUE names / emails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ON DELETE restrictions or cascade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31536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D1232A"/>
                </a:solidFill>
                <a:latin typeface="Aptos"/>
              </a:defRPr>
            </a:pPr>
            <a:r>
              <a:rPr/>
              <a:t>Recipe/menu writes and dish preparation use SQL transactions.</a:t>
            </a:r>
          </a:p>
        </p:txBody>
      </p:sp>
      <p:sp>
        <p:nvSpPr>
          <p:cNvPr id="77" name="TextBox 6"/>
          <p:cNvSpPr txBox="1"/>
          <p:nvPr/>
        </p:nvSpPr>
        <p:spPr>
          <a:xfrm>
            <a:off x="4716065" y="6565392"/>
            <a:ext cx="26379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October 19th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9728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D2A40"/>
                </a:solidFill>
                <a:latin typeface="Aptos"/>
              </a:defRPr>
            </a:pPr>
            <a:r>
              <a:rPr/>
              <a:t>Live GUI — Stock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10698480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Running in offline demo mode on Java Swing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510528"/>
            <a:ext cx="10698480" cy="10972"/>
          </a:xfrm>
          <a:prstGeom prst="rect">
            <a:avLst/>
          </a:prstGeom>
          <a:solidFill>
            <a:srgbClr val="D3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656539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OUT-N-IN  •  JAVA RESTAURANT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5624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26E"/>
                </a:solidFill>
                <a:latin typeface="Aptos"/>
              </a:defRPr>
            </a:pPr>
            <a:r>
              <a:rPr/>
              <a:t>6</a:t>
            </a:r>
          </a:p>
        </p:txBody>
      </p:sp>
      <p:pic>
        <p:nvPicPr>
          <p:cNvPr id="9" name="Picture 8" descr="demo_screenshot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63040" y="1499616"/>
            <a:ext cx="9692640" cy="4700016"/>
          </a:xfrm>
          <a:prstGeom prst="rect">
            <a:avLst/>
          </a:prstGeom>
          <a:ln w="88900">
            <a:solidFill>
              <a:srgbClr val="FFFFFF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9" name="TextBox 6"/>
          <p:cNvSpPr txBox="1"/>
          <p:nvPr/>
        </p:nvSpPr>
        <p:spPr>
          <a:xfrm>
            <a:off x="4716065" y="6565392"/>
            <a:ext cx="26379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October 19th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9728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D2A40"/>
                </a:solidFill>
                <a:latin typeface="Aptos"/>
              </a:defRPr>
            </a:pPr>
            <a:r>
              <a:rPr/>
              <a:t>Validation and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10528"/>
            <a:ext cx="10698480" cy="10972"/>
          </a:xfrm>
          <a:prstGeom prst="rect">
            <a:avLst/>
          </a:prstGeom>
          <a:solidFill>
            <a:srgbClr val="D3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56539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OUT-N-IN  •  JAVA RESTAURANT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26E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91056"/>
            <a:ext cx="5184648" cy="344728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91056"/>
            <a:ext cx="73152" cy="3447288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92224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Automated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4654296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33 passing assertions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Duplicate emails and invalid inputs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Stock depletion and safe failure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Subscription renewal and pricing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Employee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591056"/>
            <a:ext cx="5184648" cy="344728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591056"/>
            <a:ext cx="73152" cy="3447288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792224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Manual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04288"/>
            <a:ext cx="4654296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Check all four GUI tabs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Run and verify MySQL persistence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Test foreign-key constraints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Try disconnection and backup mode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Rehearse on the target laptop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6527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D1232A"/>
                </a:solidFill>
                <a:latin typeface="Aptos"/>
              </a:defRPr>
            </a:pPr>
            <a:r>
              <a:rPr/>
              <a:t>MySQL validation requires a live local database and Connector/J driver.</a:t>
            </a:r>
          </a:p>
        </p:txBody>
      </p:sp>
      <p:sp>
        <p:nvSpPr>
          <p:cNvPr id="80" name="TextBox 6"/>
          <p:cNvSpPr txBox="1"/>
          <p:nvPr/>
        </p:nvSpPr>
        <p:spPr>
          <a:xfrm>
            <a:off x="4716065" y="6565392"/>
            <a:ext cx="26379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October 19th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9728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D2A40"/>
                </a:solidFill>
                <a:latin typeface="Aptos"/>
              </a:defRPr>
            </a:pPr>
            <a:r>
              <a:rPr/>
              <a:t>How to run and present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10528"/>
            <a:ext cx="10698480" cy="10972"/>
          </a:xfrm>
          <a:prstGeom prst="rect">
            <a:avLst/>
          </a:prstGeom>
          <a:solidFill>
            <a:srgbClr val="D3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56539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OUT-N-IN  •  JAVA RESTAURANT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9626E"/>
                </a:solidFill>
                <a:latin typeface="Aptos"/>
              </a:defRPr>
            </a:pPr>
            <a:r>
              <a:rPr/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5120640" cy="343814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73152" cy="3438144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09928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Demonstrate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21991"/>
            <a:ext cx="4590288" cy="2642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run.bat   (Windows)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./run.sh --demo   (Mac/Linux)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Stock → Recipes → Menus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Employees → Subscriptions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1508760"/>
            <a:ext cx="5120640" cy="343814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5624" y="1508760"/>
            <a:ext cx="73152" cy="3438144"/>
          </a:xfrm>
          <a:prstGeom prst="rect">
            <a:avLst/>
          </a:prstGeom>
          <a:solidFill>
            <a:srgbClr val="FCC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709928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D2A40"/>
                </a:solidFill>
                <a:latin typeface="Aptos"/>
              </a:defRPr>
            </a:pPr>
            <a:r>
              <a:rPr/>
              <a:t>What to hand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221991"/>
            <a:ext cx="4590288" cy="2642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Complete Java sources + SQL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README and installation instructions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UML / ER diagrams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Manual test plan and demo script</a:t>
            </a:r>
          </a:p>
          <a:p>
            <a:pPr>
              <a:spcAft>
                <a:spcPts val="900"/>
              </a:spcAft>
              <a:defRPr sz="1600" b="0">
                <a:solidFill>
                  <a:srgbClr val="59626E"/>
                </a:solidFill>
                <a:latin typeface="Aptos"/>
              </a:defRPr>
            </a:pPr>
            <a:r>
              <a:rPr/>
              <a:t>Editable presentation slides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513832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D1232A"/>
                </a:solidFill>
                <a:latin typeface="Aptos"/>
              </a:defRPr>
            </a:pPr>
            <a:r>
              <a:rPr/>
              <a:t>Final check: verify the MySQL installation before submission.</a:t>
            </a:r>
          </a:p>
        </p:txBody>
      </p:sp>
      <p:sp>
        <p:nvSpPr>
          <p:cNvPr id="81" name="TextBox 6"/>
          <p:cNvSpPr txBox="1"/>
          <p:nvPr/>
        </p:nvSpPr>
        <p:spPr>
          <a:xfrm>
            <a:off x="4716065" y="6565392"/>
            <a:ext cx="26379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900"/>
              </a:spcAft>
              <a:defRPr sz="900" b="1">
                <a:solidFill>
                  <a:srgbClr val="59626E"/>
                </a:solidFill>
                <a:latin typeface="Aptos"/>
              </a:defRPr>
            </a:pPr>
            <a:r>
              <a:rPr/>
              <a:t>October 19th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8</Slides>
  <Notes>4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</cp:coreProperties>
</file>